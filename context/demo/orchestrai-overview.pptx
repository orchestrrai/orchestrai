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chestrai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1874519"/>
            <a:ext cx="1554480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703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7E8EE"/>
                </a:solidFill>
                <a:latin typeface="Consolas"/>
              </a:rPr>
              <a:t>Orchestr</a:t>
            </a:r>
            <a:r>
              <a:rPr sz="4000" b="1">
                <a:solidFill>
                  <a:srgbClr val="5FC8D8"/>
                </a:solidFill>
                <a:latin typeface="Consolas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315968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9296AB"/>
                </a:solidFill>
                <a:latin typeface="Segoe UI"/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D7284"/>
                </a:solidFill>
                <a:latin typeface="Consolas"/>
              </a:rPr>
              <a:t>Workflow · Architecture · Routing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7284"/>
                </a:solidFill>
                <a:latin typeface="Consolas"/>
              </a:rPr>
              <a:t>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7E8EE"/>
                </a:solidFill>
                <a:latin typeface="Segoe UI"/>
              </a:rPr>
              <a:t>The Workflow,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296AB"/>
                </a:solidFill>
                <a:latin typeface="Segoe UI"/>
              </a:rPr>
              <a:t>One request, start to finish. Any write — chosen by a human or by a planner — stops at the same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1874519" cy="914400"/>
          </a:xfrm>
          <a:prstGeom prst="roundRect">
            <a:avLst>
              <a:gd name="adj" fmla="val 14000"/>
            </a:avLst>
          </a:prstGeom>
          <a:solidFill>
            <a:srgbClr val="1A1D28"/>
          </a:solidFill>
          <a:ln w="2032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b="1" sz="1400">
                <a:solidFill>
                  <a:srgbClr val="E7E8EE"/>
                </a:solidFill>
                <a:latin typeface="Segoe UI"/>
              </a:rPr>
              <a:t>You ask</a:t>
            </a:r>
          </a:p>
          <a:p>
            <a:pPr algn="ctr"/>
            <a:r>
              <a:rPr sz="900">
                <a:solidFill>
                  <a:srgbClr val="9296AB"/>
                </a:solidFill>
                <a:latin typeface="Segoe UI"/>
              </a:rPr>
              <a:t>browser or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59" y="2468880"/>
            <a:ext cx="1874519" cy="914400"/>
          </a:xfrm>
          <a:prstGeom prst="roundRect">
            <a:avLst>
              <a:gd name="adj" fmla="val 14000"/>
            </a:avLst>
          </a:prstGeom>
          <a:solidFill>
            <a:srgbClr val="1A1D28"/>
          </a:solidFill>
          <a:ln w="2032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b="1" sz="1400">
                <a:solidFill>
                  <a:srgbClr val="E7E8EE"/>
                </a:solidFill>
                <a:latin typeface="Segoe UI"/>
              </a:rPr>
              <a:t>It plans</a:t>
            </a:r>
          </a:p>
          <a:p>
            <a:pPr algn="ctr"/>
            <a:r>
              <a:rPr sz="900">
                <a:solidFill>
                  <a:srgbClr val="9296AB"/>
                </a:solidFill>
                <a:latin typeface="Segoe UI"/>
              </a:rPr>
              <a:t>reads the project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799" y="2468880"/>
            <a:ext cx="1874519" cy="914400"/>
          </a:xfrm>
          <a:prstGeom prst="roundRect">
            <a:avLst>
              <a:gd name="adj" fmla="val 14000"/>
            </a:avLst>
          </a:prstGeom>
          <a:solidFill>
            <a:srgbClr val="1A1D28"/>
          </a:solidFill>
          <a:ln w="2032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b="1" sz="1400">
                <a:solidFill>
                  <a:srgbClr val="E7E8EE"/>
                </a:solidFill>
                <a:latin typeface="Segoe UI"/>
              </a:rPr>
              <a:t>It shows you</a:t>
            </a:r>
          </a:p>
          <a:p>
            <a:pPr algn="ctr"/>
            <a:r>
              <a:rPr sz="900">
                <a:solidFill>
                  <a:srgbClr val="9296AB"/>
                </a:solidFill>
                <a:latin typeface="Segoe UI"/>
              </a:rPr>
              <a:t>exactly what it intends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468880"/>
            <a:ext cx="1874519" cy="914400"/>
          </a:xfrm>
          <a:prstGeom prst="roundRect">
            <a:avLst>
              <a:gd name="adj" fmla="val 14000"/>
            </a:avLst>
          </a:prstGeom>
          <a:solidFill>
            <a:srgbClr val="2A1F1C"/>
          </a:solidFill>
          <a:ln w="20320">
            <a:solidFill>
              <a:srgbClr val="F08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b="1" sz="1400">
                <a:solidFill>
                  <a:srgbClr val="E7E8EE"/>
                </a:solidFill>
                <a:latin typeface="Segoe UI"/>
              </a:rPr>
              <a:t>APPROVAL GATE</a:t>
            </a:r>
          </a:p>
          <a:p>
            <a:pPr algn="ctr"/>
            <a:r>
              <a:rPr sz="900">
                <a:solidFill>
                  <a:srgbClr val="9296AB"/>
                </a:solidFill>
                <a:latin typeface="Segoe UI"/>
              </a:rPr>
              <a:t>you decide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2468880"/>
            <a:ext cx="1874519" cy="914400"/>
          </a:xfrm>
          <a:prstGeom prst="roundRect">
            <a:avLst>
              <a:gd name="adj" fmla="val 14000"/>
            </a:avLst>
          </a:prstGeom>
          <a:solidFill>
            <a:srgbClr val="1A1D28"/>
          </a:solidFill>
          <a:ln w="2032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b="1" sz="1400">
                <a:solidFill>
                  <a:srgbClr val="E7E8EE"/>
                </a:solidFill>
                <a:latin typeface="Segoe UI"/>
              </a:rPr>
              <a:t>It runs</a:t>
            </a:r>
          </a:p>
          <a:p>
            <a:pPr algn="ctr"/>
            <a:r>
              <a:rPr sz="900">
                <a:solidFill>
                  <a:srgbClr val="9296AB"/>
                </a:solidFill>
                <a:latin typeface="Segoe UI"/>
              </a:rPr>
              <a:t>only after you say yes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32303" y="2926080"/>
            <a:ext cx="393192" cy="0"/>
          </a:xfrm>
          <a:prstGeom prst="line">
            <a:avLst/>
          </a:prstGeom>
          <a:ln w="2794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09743" y="2926080"/>
            <a:ext cx="393193" cy="0"/>
          </a:xfrm>
          <a:prstGeom prst="line">
            <a:avLst/>
          </a:prstGeom>
          <a:ln w="2794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87183" y="2926080"/>
            <a:ext cx="393192" cy="0"/>
          </a:xfrm>
          <a:prstGeom prst="line">
            <a:avLst/>
          </a:prstGeom>
          <a:ln w="27940">
            <a:solidFill>
              <a:srgbClr val="F083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64624" y="2926080"/>
            <a:ext cx="393191" cy="0"/>
          </a:xfrm>
          <a:prstGeom prst="line">
            <a:avLst/>
          </a:prstGeom>
          <a:ln w="27940">
            <a:solidFill>
              <a:srgbClr val="F083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D7284"/>
                </a:solidFill>
                <a:latin typeface="Segoe UI"/>
              </a:rPr>
              <a:t>Read-only work never reaches the gate at all — it just finishes on its 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6908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6D7284"/>
                </a:solidFill>
                <a:latin typeface="Segoe UI"/>
              </a:rPr>
              <a:t>The next slide shows this same run at full protocol detail.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7284"/>
                </a:solidFill>
                <a:latin typeface="Consolas"/>
              </a:rPr>
              <a:t>FULL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7E8EE"/>
                </a:solidFill>
                <a:latin typeface="Segoe UI"/>
              </a:rPr>
              <a:t>Sequence — plan-task with the LLM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7284"/>
                </a:solidFill>
                <a:latin typeface="Consolas"/>
              </a:rPr>
              <a:t>context/demo/current-workflow-sequence.html · one real run: "setup my project from scratch", harness enabled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4407407"/>
            <a:ext cx="11521440" cy="1069848"/>
          </a:xfrm>
          <a:prstGeom prst="roundRect">
            <a:avLst/>
          </a:prstGeom>
          <a:solidFill>
            <a:srgbClr val="2A1F1C"/>
          </a:solidFill>
          <a:ln w="15240">
            <a:solidFill>
              <a:srgbClr val="F083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443983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0836A"/>
                </a:solidFill>
                <a:latin typeface="Consolas"/>
              </a:rPr>
              <a:t>approval gate — rows 12–15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371600"/>
            <a:ext cx="0" cy="525780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4592" y="1133856"/>
            <a:ext cx="1499616" cy="310896"/>
          </a:xfrm>
          <a:prstGeom prst="roundRect">
            <a:avLst>
              <a:gd name="adj" fmla="val 25000"/>
            </a:avLst>
          </a:prstGeom>
          <a:solidFill>
            <a:srgbClr val="20232F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85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1371600"/>
            <a:ext cx="0" cy="525780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76272" y="1133856"/>
            <a:ext cx="1499616" cy="310896"/>
          </a:xfrm>
          <a:prstGeom prst="roundRect">
            <a:avLst>
              <a:gd name="adj" fmla="val 25000"/>
            </a:avLst>
          </a:prstGeom>
          <a:solidFill>
            <a:srgbClr val="20232F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85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1371600"/>
            <a:ext cx="0" cy="525780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87952" y="1133856"/>
            <a:ext cx="1499616" cy="310896"/>
          </a:xfrm>
          <a:prstGeom prst="roundRect">
            <a:avLst>
              <a:gd name="adj" fmla="val 25000"/>
            </a:avLst>
          </a:prstGeom>
          <a:solidFill>
            <a:srgbClr val="20232F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85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1371600"/>
            <a:ext cx="0" cy="525780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9631" y="1133856"/>
            <a:ext cx="1499616" cy="310896"/>
          </a:xfrm>
          <a:prstGeom prst="roundRect">
            <a:avLst>
              <a:gd name="adj" fmla="val 25000"/>
            </a:avLst>
          </a:prstGeom>
          <a:solidFill>
            <a:srgbClr val="20232F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85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0" y="1371600"/>
            <a:ext cx="0" cy="525780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11312" y="1133856"/>
            <a:ext cx="1499616" cy="310896"/>
          </a:xfrm>
          <a:prstGeom prst="roundRect">
            <a:avLst>
              <a:gd name="adj" fmla="val 25000"/>
            </a:avLst>
          </a:prstGeom>
          <a:solidFill>
            <a:srgbClr val="20232F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850" b="1">
                <a:solidFill>
                  <a:srgbClr val="E7E8EE"/>
                </a:solidFill>
                <a:latin typeface="Consolas"/>
              </a:rPr>
              <a:t>MCP Server
:3006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972800" y="1371600"/>
            <a:ext cx="0" cy="525780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222992" y="1133856"/>
            <a:ext cx="1499616" cy="310896"/>
          </a:xfrm>
          <a:prstGeom prst="roundRect">
            <a:avLst>
              <a:gd name="adj" fmla="val 25000"/>
            </a:avLst>
          </a:prstGeom>
          <a:solidFill>
            <a:srgbClr val="20232F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85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1627632"/>
            <a:ext cx="2011680" cy="0"/>
          </a:xfrm>
          <a:prstGeom prst="line">
            <a:avLst/>
          </a:prstGeom>
          <a:ln w="1905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" y="1485900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5FC8D8"/>
                </a:solidFill>
                <a:latin typeface="Segoe UI"/>
              </a:rPr>
              <a:t>POST /tasks — "setup my project from scratch"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1892807"/>
            <a:ext cx="2011680" cy="0"/>
          </a:xfrm>
          <a:prstGeom prst="line">
            <a:avLst/>
          </a:prstGeom>
          <a:ln w="1905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71600" y="1751075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5FC8D8"/>
                </a:solidFill>
                <a:latin typeface="Segoe UI"/>
              </a:rPr>
              <a:t>POST / — selectedSkill: plan-task + capabilities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37760" y="2157984"/>
            <a:ext cx="2011680" cy="0"/>
          </a:xfrm>
          <a:prstGeom prst="line">
            <a:avLst/>
          </a:prstGeom>
          <a:ln w="1905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83280" y="2016252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E08098"/>
                </a:solidFill>
                <a:latin typeface="Segoe UI"/>
              </a:rPr>
              <a:t>decide (tools bound: git_status, analyze_project only)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937760" y="2423160"/>
            <a:ext cx="2011680" cy="0"/>
          </a:xfrm>
          <a:prstGeom prst="line">
            <a:avLst/>
          </a:prstGeom>
          <a:ln w="1905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83280" y="2281428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E08098"/>
                </a:solidFill>
                <a:latin typeface="Segoe UI"/>
              </a:rPr>
              <a:t>tool_call: git_status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37760" y="2688336"/>
            <a:ext cx="4023360" cy="0"/>
          </a:xfrm>
          <a:prstGeom prst="line">
            <a:avLst/>
          </a:prstGeom>
          <a:ln w="1905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89120" y="2546604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E0A750"/>
                </a:solidFill>
                <a:latin typeface="Segoe UI"/>
              </a:rPr>
              <a:t>MCP tool call: git_status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937760" y="2953512"/>
            <a:ext cx="4023360" cy="0"/>
          </a:xfrm>
          <a:prstGeom prst="line">
            <a:avLst/>
          </a:prstGeom>
          <a:ln w="1905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89120" y="2811780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E0A750"/>
                </a:solidFill>
                <a:latin typeface="Segoe UI"/>
              </a:rPr>
              <a:t>MCP result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37760" y="3218687"/>
            <a:ext cx="2011680" cy="0"/>
          </a:xfrm>
          <a:prstGeom prst="line">
            <a:avLst/>
          </a:prstGeom>
          <a:ln w="1905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83280" y="3076956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E08098"/>
                </a:solidFill>
                <a:latin typeface="Segoe UI"/>
              </a:rPr>
              <a:t>result fed back → decide again (repeats: analyze_project)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937760" y="3483863"/>
            <a:ext cx="2011680" cy="0"/>
          </a:xfrm>
          <a:prstGeom prst="line">
            <a:avLst/>
          </a:prstGeom>
          <a:ln w="1905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83280" y="3342132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E08098"/>
                </a:solidFill>
                <a:latin typeface="Segoe UI"/>
              </a:rPr>
              <a:t>final plan (schema-validated)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926080" y="3749039"/>
            <a:ext cx="2011680" cy="0"/>
          </a:xfrm>
          <a:prstGeom prst="line">
            <a:avLst/>
          </a:prstGeom>
          <a:ln w="1905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71600" y="3607308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5FC8D8"/>
                </a:solidFill>
                <a:latin typeface="Segoe UI"/>
              </a:rPr>
              <a:t>plan text — 4 steps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26080" y="4014215"/>
            <a:ext cx="8046720" cy="0"/>
          </a:xfrm>
          <a:prstGeom prst="line">
            <a:avLst/>
          </a:prstGeom>
          <a:ln w="1905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89120" y="3872483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5FC8D8"/>
                </a:solidFill>
                <a:latin typeface="Segoe UI"/>
              </a:rPr>
              <a:t>dispatch step — selectedSkill authoritative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961120" y="4279392"/>
            <a:ext cx="2011680" cy="0"/>
          </a:xfrm>
          <a:prstGeom prst="line">
            <a:avLst/>
          </a:prstGeom>
          <a:ln w="1905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933895" y="4137659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E0A750"/>
                </a:solidFill>
                <a:latin typeface="Segoe UI"/>
              </a:rPr>
              <a:t>MCP tool call — write, pending approval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2926080" y="4544568"/>
            <a:ext cx="8046720" cy="0"/>
          </a:xfrm>
          <a:prstGeom prst="line">
            <a:avLst/>
          </a:prstGeom>
          <a:ln w="19050">
            <a:solidFill>
              <a:srgbClr val="5FC8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389120" y="4402836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5FC8D8"/>
                </a:solidFill>
                <a:latin typeface="Segoe UI"/>
              </a:rPr>
              <a:t>input-required + actionId-bound preview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914400" y="4809744"/>
            <a:ext cx="2011680" cy="0"/>
          </a:xfrm>
          <a:prstGeom prst="line">
            <a:avLst/>
          </a:prstGeom>
          <a:ln w="19050">
            <a:solidFill>
              <a:srgbClr val="7BA7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37160" y="4668012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7BA7E8"/>
                </a:solidFill>
                <a:latin typeface="Segoe UI"/>
              </a:rPr>
              <a:t>SSE — CUSTOM orchestrai.approval-required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4400" y="5074920"/>
            <a:ext cx="2011680" cy="0"/>
          </a:xfrm>
          <a:prstGeom prst="line">
            <a:avLst/>
          </a:prstGeom>
          <a:ln w="19050">
            <a:solidFill>
              <a:srgbClr val="5FC8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7160" y="4933188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5FC8D8"/>
                </a:solidFill>
                <a:latin typeface="Segoe UI"/>
              </a:rPr>
              <a:t>POST /tasks/:id/approve {actionId}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926080" y="5340096"/>
            <a:ext cx="8046720" cy="0"/>
          </a:xfrm>
          <a:prstGeom prst="line">
            <a:avLst/>
          </a:prstGeom>
          <a:ln w="19050">
            <a:solidFill>
              <a:srgbClr val="5FC8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389120" y="5198364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5FC8D8"/>
                </a:solidFill>
                <a:latin typeface="Segoe UI"/>
              </a:rPr>
              <a:t>POST /approve {actionId} — forwarded only, never client-supplied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8961120" y="5605272"/>
            <a:ext cx="2011680" cy="0"/>
          </a:xfrm>
          <a:prstGeom prst="line">
            <a:avLst/>
          </a:prstGeom>
          <a:ln w="1905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933895" y="5463540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E0A750"/>
                </a:solidFill>
                <a:latin typeface="Segoe UI"/>
              </a:rPr>
              <a:t>MCP tool call — execute write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2926080" y="5870448"/>
            <a:ext cx="8046720" cy="0"/>
          </a:xfrm>
          <a:prstGeom prst="line">
            <a:avLst/>
          </a:prstGeom>
          <a:ln w="1905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89120" y="5728716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5FC8D8"/>
                </a:solidFill>
                <a:latin typeface="Segoe UI"/>
              </a:rPr>
              <a:t>completed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914400" y="6135624"/>
            <a:ext cx="2011680" cy="0"/>
          </a:xfrm>
          <a:prstGeom prst="line">
            <a:avLst/>
          </a:prstGeom>
          <a:ln w="19050">
            <a:solidFill>
              <a:srgbClr val="7BA7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37160" y="5993892"/>
            <a:ext cx="5120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30" b="1" i="0">
                <a:solidFill>
                  <a:srgbClr val="7BA7E8"/>
                </a:solidFill>
                <a:latin typeface="Segoe UI"/>
              </a:rPr>
              <a:t>SSE — RUN_FINISHED (→ browser &amp; TUI, same stream)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7284"/>
                </a:solidFill>
                <a:latin typeface="Consolas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7E8EE"/>
                </a:solidFill>
                <a:latin typeface="Segoe UI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7284"/>
                </a:solidFill>
                <a:latin typeface="Consolas"/>
              </a:rPr>
              <a:t>context/demo/status-cheat-sheet.html · System map — what changed</a:t>
            </a:r>
          </a:p>
        </p:txBody>
      </p:sp>
      <p:pic>
        <p:nvPicPr>
          <p:cNvPr id="5" name="Picture 4" descr="architecture-system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325880"/>
            <a:ext cx="9875520" cy="4843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79315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296AB"/>
                </a:solidFill>
                <a:latin typeface="Segoe UI"/>
              </a:rPr>
              <a:t>Four agents are now real MCP clients, not three: Planning joined them, but only through its harness and only for two read-only tools. Security remains deliberately direct-filesystem.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7284"/>
                </a:solidFill>
                <a:latin typeface="Consolas"/>
              </a:rP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7E8EE"/>
                </a:solidFill>
                <a:latin typeface="Segoe UI"/>
              </a:rPr>
              <a:t>The Detection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296AB"/>
                </a:solidFill>
                <a:latin typeface="Segoe UI"/>
              </a:rPr>
              <a:t>“Is it just calling an LLM for everything?” — no. Each tier only runs if the one above found nothing: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685800" cy="1207008"/>
          </a:xfrm>
          <a:prstGeom prst="roundRect">
            <a:avLst>
              <a:gd name="adj" fmla="val 50000"/>
            </a:avLst>
          </a:prstGeom>
          <a:solidFill>
            <a:srgbClr val="20232F"/>
          </a:solidFill>
          <a:ln w="2032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2200" b="1">
                <a:solidFill>
                  <a:srgbClr val="6FCF97"/>
                </a:solidFill>
                <a:latin typeface="Consola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17320"/>
            <a:ext cx="9875520" cy="1207008"/>
          </a:xfrm>
          <a:prstGeom prst="roundRect">
            <a:avLst>
              <a:gd name="adj" fmla="val 8000"/>
            </a:avLst>
          </a:prstGeom>
          <a:solidFill>
            <a:srgbClr val="1A1D28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76200" tIns="50800" bIns="50800"/>
          <a:lstStyle/>
          <a:p>
            <a:pPr algn="l"/>
            <a:r>
              <a:rPr sz="1500" b="1">
                <a:solidFill>
                  <a:srgbClr val="E7E8EE"/>
                </a:solidFill>
                <a:latin typeface="Segoe UI"/>
              </a:rPr>
              <a:t>Keyword match</a:t>
            </a:r>
          </a:p>
          <a:p>
            <a:pPr algn="l"/>
            <a:r>
              <a:rPr sz="1000">
                <a:solidFill>
                  <a:srgbClr val="9296AB"/>
                </a:solidFill>
                <a:latin typeface="Segoe UI"/>
              </a:rPr>
              <a:t>Deterministic, checked first, always. Instant, reproducible, no network call.</a:t>
            </a:r>
          </a:p>
          <a:p>
            <a:pPr algn="l"/>
            <a:r>
              <a:rPr sz="850">
                <a:solidFill>
                  <a:srgbClr val="6D7284"/>
                </a:solidFill>
                <a:latin typeface="Consolas"/>
              </a:rPr>
              <a:t>e.g. “dockerize” → dockerize · “run tests” → run-tests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5820" y="2624328"/>
            <a:ext cx="0" cy="164592"/>
          </a:xfrm>
          <a:prstGeom prst="line">
            <a:avLst/>
          </a:prstGeom>
          <a:ln w="17780">
            <a:solidFill>
              <a:srgbClr val="929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2606040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D7284"/>
                </a:solidFill>
                <a:latin typeface="Consolas"/>
              </a:rPr>
              <a:t>if no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685800" cy="1207008"/>
          </a:xfrm>
          <a:prstGeom prst="roundRect">
            <a:avLst>
              <a:gd name="adj" fmla="val 50000"/>
            </a:avLst>
          </a:prstGeom>
          <a:solidFill>
            <a:srgbClr val="20232F"/>
          </a:solidFill>
          <a:ln w="20320">
            <a:solidFill>
              <a:srgbClr val="6FCF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2200" b="1">
                <a:solidFill>
                  <a:srgbClr val="6FCF97"/>
                </a:solidFill>
                <a:latin typeface="Consola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88920"/>
            <a:ext cx="9875520" cy="1207008"/>
          </a:xfrm>
          <a:prstGeom prst="roundRect">
            <a:avLst>
              <a:gd name="adj" fmla="val 8000"/>
            </a:avLst>
          </a:prstGeom>
          <a:solidFill>
            <a:srgbClr val="1A1D28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76200" tIns="50800" bIns="50800"/>
          <a:lstStyle/>
          <a:p>
            <a:pPr algn="l"/>
            <a:r>
              <a:rPr sz="1500" b="1">
                <a:solidFill>
                  <a:srgbClr val="E7E8EE"/>
                </a:solidFill>
                <a:latin typeface="Segoe UI"/>
              </a:rPr>
              <a:t>Local classifier</a:t>
            </a:r>
          </a:p>
          <a:p>
            <a:pPr algn="l"/>
            <a:r>
              <a:rPr sz="1000">
                <a:solidFill>
                  <a:srgbClr val="9296AB"/>
                </a:solidFill>
                <a:latin typeface="Segoe UI"/>
              </a:rPr>
              <a:t>Only runs if no keyword matched. Static embeddings (Model2Vec) — on-device, no network, no LLM.</a:t>
            </a:r>
          </a:p>
          <a:p>
            <a:pPr algn="l"/>
            <a:r>
              <a:rPr sz="850">
                <a:solidFill>
                  <a:srgbClr val="6D7284"/>
                </a:solidFill>
                <a:latin typeface="Consolas"/>
              </a:rPr>
              <a:t>minishlab/potion-base-8M · needs score ≥ .30 and margin ≥ .05, or falls through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5820" y="3995928"/>
            <a:ext cx="0" cy="164592"/>
          </a:xfrm>
          <a:prstGeom prst="line">
            <a:avLst/>
          </a:prstGeom>
          <a:ln w="17780">
            <a:solidFill>
              <a:srgbClr val="929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3977640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D7284"/>
                </a:solidFill>
                <a:latin typeface="Consolas"/>
              </a:rPr>
              <a:t>below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685800" cy="1207008"/>
          </a:xfrm>
          <a:prstGeom prst="roundRect">
            <a:avLst>
              <a:gd name="adj" fmla="val 50000"/>
            </a:avLst>
          </a:prstGeom>
          <a:solidFill>
            <a:srgbClr val="20232F"/>
          </a:solidFill>
          <a:ln w="20320">
            <a:solidFill>
              <a:srgbClr val="E080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2200" b="1">
                <a:solidFill>
                  <a:srgbClr val="E08098"/>
                </a:solidFill>
                <a:latin typeface="Consola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160520"/>
            <a:ext cx="9875520" cy="1207008"/>
          </a:xfrm>
          <a:prstGeom prst="roundRect">
            <a:avLst>
              <a:gd name="adj" fmla="val 8000"/>
            </a:avLst>
          </a:prstGeom>
          <a:solidFill>
            <a:srgbClr val="1A1D28"/>
          </a:solidFill>
          <a:ln w="12700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76200" tIns="50800" bIns="50800"/>
          <a:lstStyle/>
          <a:p>
            <a:pPr algn="l"/>
            <a:r>
              <a:rPr sz="1500" b="1">
                <a:solidFill>
                  <a:srgbClr val="E7E8EE"/>
                </a:solidFill>
                <a:latin typeface="Segoe UI"/>
              </a:rPr>
              <a:t>plan-task</a:t>
            </a:r>
          </a:p>
          <a:p>
            <a:pPr algn="l"/>
            <a:r>
              <a:rPr sz="1000">
                <a:solidFill>
                  <a:srgbClr val="9296AB"/>
                </a:solidFill>
                <a:latin typeface="Segoe UI"/>
              </a:rPr>
              <a:t>Still unresolved → defaults here: the deterministic keyword planner, or — only if
ORCHESTRAI_LLM_HARNESS=1 — the opt-in LLM harness instead.</a:t>
            </a:r>
          </a:p>
          <a:p>
            <a:pPr algn="l"/>
            <a:r>
              <a:rPr sz="850">
                <a:solidFill>
                  <a:srgbClr val="6D7284"/>
                </a:solidFill>
                <a:latin typeface="Consolas"/>
              </a:rPr>
              <a:t>harness: 2 read-only MCP tools only, enforced at graph-build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577840"/>
            <a:ext cx="9875520" cy="640080"/>
          </a:xfrm>
          <a:prstGeom prst="roundRect">
            <a:avLst>
              <a:gd name="adj" fmla="val 40000"/>
            </a:avLst>
          </a:prstGeom>
          <a:solidFill>
            <a:srgbClr val="2A1F1C"/>
          </a:solidFill>
          <a:ln w="20320">
            <a:solidFill>
              <a:srgbClr val="F08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/>
          <a:lstStyle/>
          <a:p>
            <a:pPr algn="ctr"/>
            <a:r>
              <a:rPr sz="1250" b="1">
                <a:solidFill>
                  <a:srgbClr val="F0836A"/>
                </a:solidFill>
                <a:latin typeface="Segoe UI"/>
              </a:rPr>
              <a:t>Whichever tier picks a write-capable skill — same approval gate, identical for all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79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9296AB"/>
                </a:solidFill>
                <a:latin typeface="Segoe UI"/>
              </a:rPr>
              <a:t>“Most of this system is deliberately not AI. The non-deterministic part is allowed to suggest; it is never what makes something safe.”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7284"/>
                </a:solidFill>
                <a:latin typeface="Consolas"/>
              </a:rP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7E8EE"/>
                </a:solidFill>
                <a:latin typeface="Segoe UI"/>
              </a:rPr>
              <a:t>The Simple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296AB"/>
                </a:solidFill>
                <a:latin typeface="Segoe UI"/>
              </a:rPr>
              <a:t>Before any protocol wire gets chosen, the Orchestrator first decides which skill a task is even for — entirely inside its own process (detectSkill()), before any agent is ever contacted.</a:t>
            </a:r>
          </a:p>
        </p:txBody>
      </p:sp>
      <p:pic>
        <p:nvPicPr>
          <p:cNvPr id="5" name="Picture 4" descr="routing-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2194560"/>
            <a:ext cx="9692640" cy="26666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81235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D7284"/>
                </a:solidFill>
                <a:latin typeface="Segoe UI"/>
              </a:rPr>
              <a:t>minishlab/potion-base-8M (Model2Vec static embeddings): tokenize → look up one vector per token → mean-pool → cosine similarity. No inference engine, no network call, not an LLM — and it never overrides a keyword match, only fills the gap when nothing matched at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7284"/>
                </a:solidFill>
                <a:latin typeface="Consolas"/>
              </a:rP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7E8EE"/>
                </a:solidFill>
                <a:latin typeface="Segoe UI"/>
              </a:rPr>
              <a:t>The Simple Version, With the LLM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296AB"/>
                </a:solidFill>
                <a:latin typeface="Segoe UI"/>
              </a:rPr>
              <a:t>Same flow as the previous slide — plan-task is just drawn out fully now, including its one opt-in branch.</a:t>
            </a:r>
          </a:p>
        </p:txBody>
      </p:sp>
      <p:pic>
        <p:nvPicPr>
          <p:cNvPr id="5" name="Picture 4" descr="routing-fig2-with-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600200"/>
            <a:ext cx="10789920" cy="27973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2618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D7284"/>
                </a:solidFill>
                <a:latin typeface="Segoe UI"/>
              </a:rPr>
              <a:t>plan-task's default is still the deterministic keyword planner — the LLM harness only runs when ORCHESTRAI_LLM_HARNESS=1 is explicitly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7284"/>
                </a:solidFill>
                <a:latin typeface="Consolas"/>
              </a:rPr>
              <a:t>LLM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7E8EE"/>
                </a:solidFill>
                <a:latin typeface="Segoe UI"/>
              </a:rPr>
              <a:t>Scoped Deliberately Narrow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296AB"/>
                </a:solidFill>
                <a:latin typeface="Segoe UI"/>
              </a:rPr>
              <a:t>The one place an LLM API call can happen in this system — off by default, and narrow even when it's on.</a:t>
            </a:r>
          </a:p>
        </p:txBody>
      </p:sp>
      <p:pic>
        <p:nvPicPr>
          <p:cNvPr id="5" name="Picture 4" descr="llm-harness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45920"/>
            <a:ext cx="10607040" cy="31435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063817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D7284"/>
                </a:solidFill>
                <a:latin typeface="Segoe UI"/>
              </a:rPr>
              <a:t>Same approval gate applies regardless: the harness can name a write-capable skill, but naming one and executing one are different things.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7284"/>
                </a:solidFill>
                <a:latin typeface="Consolas"/>
              </a:rPr>
              <a:t>LLM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7E8EE"/>
                </a:solidFill>
                <a:latin typeface="Segoe UI"/>
              </a:rPr>
              <a:t>The Loop, From a Real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7284"/>
                </a:solidFill>
                <a:latin typeface="Consolas"/>
              </a:rPr>
              <a:t>context/demo/current-workflow-sequence.html · the same tool-calling loop, isolated from the full sequence</a:t>
            </a:r>
          </a:p>
        </p:txBody>
      </p:sp>
      <p:pic>
        <p:nvPicPr>
          <p:cNvPr id="5" name="Picture 4" descr="llm-harness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1417320"/>
            <a:ext cx="10424160" cy="40532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99125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D7284"/>
                </a:solidFill>
                <a:latin typeface="Segoe UI"/>
              </a:rPr>
              <a:t>Only two read-only MCP tools are ever bound — git_status, analyze_project — enforced when the graph is built, not by a prompt. The loop can retry once on invalid output; anything else fails closed to zero plan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